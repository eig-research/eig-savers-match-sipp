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federal cost</c:v>
                </c:pt>
              </c:strCache>
            </c:strRef>
          </c:tx>
          <c:spPr>
            <a:solidFill>
              <a:srgbClr val="19644D"/>
            </a:solidFill>
            <a:effectLst/>
          </c:spPr>
          <c:invertIfNegative val="0"/>
          <c:dLbls>
            <c:numFmt formatCode="&quot;$&quot;0.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A1A1A"/>
                    </a:solidFill>
                    <a:latin typeface="Open San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Observed (59%)</c:v>
                </c:pt>
                <c:pt idx="1">
                  <c:v>Auto-enroll (80%)</c:v>
                </c:pt>
                <c:pt idx="2">
                  <c:v>Full (100%)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14.1</c:v>
                </c:pt>
                <c:pt idx="1">
                  <c:v>19.100000000000001</c:v>
                </c:pt>
                <c:pt idx="2">
                  <c:v>23.9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7F-4164-BFF0-889B151753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44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7830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Universal Saver's Match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24917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0D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steps in closing the access gap and generating retirement-savings where it matters most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D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 Innovation Group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" cy="137160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AD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access gap undermines what the Saver’s Match can do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937760" cy="3657600"/>
          </a:xfrm>
          <a:prstGeom prst="roundRect">
            <a:avLst>
              <a:gd name="adj" fmla="val 1750"/>
            </a:avLst>
          </a:prstGeom>
          <a:solidFill>
            <a:srgbClr val="EAF1ED"/>
          </a:solidFill>
          <a:ln w="12700">
            <a:solidFill>
              <a:srgbClr val="33333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~3 in 5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the dollars the Saver's Match could direct to households will not get there since those workers have no retirement account.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Why it matters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0" y="2286000"/>
            <a:ext cx="5852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match enacted in federal law rewards households and workers who already hold a qualifying retirement account and who contribute.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binding constraint is the access gap rather than subsidy. Independent contractors, gig and platform workers, and employees who lack employer-provided retirement plans are left out.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964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Fixing the access gap is the first, largest step, to unlock the Saver’s Match.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Author's analysis of SIPP 2024 Wave 1. Access-gate estimate compares current-law match offers with the share deliverable given account access.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" cy="137160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AD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Two moving parts to consider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F4F7F5"/>
          </a:solidFill>
          <a:ln w="12700">
            <a:solidFill>
              <a:srgbClr val="33333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1.  A universal automatic account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157984"/>
            <a:ext cx="47731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Workers on a qualifying workplace plan stay in that plan. All other workers default into a low-cost, portable federal account auto-enrolled at a 3 percent default. The self-employed contribute through estimated-tax payments or their hosting platforms, under a worker-classification safe harbor. This account is the active ingredient that closes the access gap.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212080" cy="1783080"/>
          </a:xfrm>
          <a:prstGeom prst="roundRect">
            <a:avLst>
              <a:gd name="adj" fmla="val 3590"/>
            </a:avLst>
          </a:prstGeom>
          <a:solidFill>
            <a:srgbClr val="F4F7F5"/>
          </a:solidFill>
          <a:ln w="12700">
            <a:solidFill>
              <a:srgbClr val="33333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2.  A redesigned match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4123944"/>
            <a:ext cx="4809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single declining line by income: 200 percent for the lowest earners, falling to zero at the top of each band. The credit is capped at $1,000 per individual — $2,000 for a dual-earner couple.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to administer: </a:t>
            </a:r>
            <a:r>
              <a:rPr lang="en-US" sz="1200" dirty="0">
                <a:solidFill>
                  <a:srgbClr val="5959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match is set on prior-year income — known when the worker contributes, with no year-end clawback — and a worker's own contributions stay accessible, in the same way RSAA is currently designed.</a:t>
            </a:r>
            <a:endParaRPr lang="en-US" sz="1200" dirty="0"/>
          </a:p>
        </p:txBody>
      </p:sp>
      <p:pic>
        <p:nvPicPr>
          <p:cNvPr id="12" name="Image 0" descr="C:/Users/Research/Documents/GitHub/EIG-Savers-match-sipp/output/figures/universal_sm_hybrid/lens_01_match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11680"/>
            <a:ext cx="5669280" cy="32015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80760" y="523150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filer: the redesigned rate (green) vs. the current-law match (gold).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" cy="137160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AD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SCHEDULE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An income-anchored band, scaled by filing status</a:t>
            </a:r>
            <a:endParaRPr lang="en-US" sz="2700" dirty="0"/>
          </a:p>
        </p:txBody>
      </p:sp>
      <p:pic>
        <p:nvPicPr>
          <p:cNvPr id="5" name="Image 0" descr="C:/Users/Research/Documents/GitHub/EIG-Savers-match-sipp/output/figures/universal_sm_hybrid/match_rate_by_mag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7040880" cy="352044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0" y="1874520"/>
          <a:ext cx="3733496" cy="1609344"/>
        </p:xfrm>
        <a:graphic>
          <a:graphicData uri="http://schemas.openxmlformats.org/drawingml/2006/table">
            <a:tbl>
              <a:tblPr/>
              <a:tblGrid>
                <a:gridCol w="1717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Filing status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50% pivot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Match ends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Single / MFS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$32,235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$42,980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Head of household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$48,353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$64,471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Married filing jointly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$64,471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$85,961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909560" y="3886200"/>
            <a:ext cx="37334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241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the band is set.  </a:t>
            </a:r>
            <a:r>
              <a:rPr lang="en-US" sz="13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single-filer pivot is anchored to the IRS median income for single filers (at two-thirds of that median), with the head-of-household and joint bands scaled by the statutory 1.5x and 2.0x ratios already used in current law. It is indexed to chained-CPI inflation and re-anchored to fresh IRS data about once a decade — so the band tracks incomes without repeated acts of Congress, on a basis a budget agency can reproduce.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Author's analysis of SIPP 2024 Wave 1, projected to tax year 2027. Eligibility band anchored to IRS single-filer median income.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" cy="137160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AD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44.5 million workers — and the dollars land at the bottom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4F7F5"/>
          </a:solidFill>
          <a:ln w="12700">
            <a:solidFill>
              <a:srgbClr val="33333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44.5M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eligible workers (~31% of the workforce)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4F7F5"/>
          </a:solidFill>
          <a:ln w="12700">
            <a:solidFill>
              <a:srgbClr val="33333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783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58%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80560" y="2331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reach the match through the new account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4F7F5"/>
          </a:solidFill>
          <a:ln w="12700">
            <a:solidFill>
              <a:srgbClr val="33333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1783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84%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29600" y="2331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dollars go to the lowest-earning 30%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5486400" cy="120700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Channel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Workers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Avg. income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Avg. rate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New universal account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26.0M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$34,800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85%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Existing workplace plan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18.5M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$41,300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66%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4709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universal account carries the larger share — it absorbs the self-employed and workers without a plan, who tend to have lower incomes and therefore higher match rates.</a:t>
            </a:r>
            <a:endParaRPr lang="en-US" sz="1300" dirty="0"/>
          </a:p>
        </p:txBody>
      </p:sp>
      <p:pic>
        <p:nvPicPr>
          <p:cNvPr id="16" name="Image 0" descr="C:/Users/Research/Documents/GitHub/EIG-Savers-match-sipp/output/figures/universal_sm_hybrid/incidence_by_dec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75" y="3200400"/>
            <a:ext cx="5212080" cy="32575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Author's analysis of SIPP 2024 Wave 1, projected to tax year 2027. Eligibility band anchored to IRS single-filer median income.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" cy="137160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AD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GENEROSITY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higher rate, and an easier path to the full credit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4F7F5"/>
          </a:solidFill>
          <a:ln w="12700">
            <a:solidFill>
              <a:srgbClr val="33333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007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far higher subsidy rate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 percent at the bottom: a worker who sets aside just $500 receives the full $1,000 credit.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4F7F5"/>
          </a:solidFill>
          <a:ln w="12700">
            <a:solidFill>
              <a:srgbClr val="33333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7007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An easier path to the cap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0560" y="2194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full credit is reachable on about 5 percent of earnings — versus the $2,000 contribution current law requires.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4F7F5"/>
          </a:solidFill>
          <a:ln w="12700">
            <a:solidFill>
              <a:srgbClr val="33333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17007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larger average award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$537 per participant, against roughly $278 per worker under current law in the same population.</a:t>
            </a:r>
            <a:endParaRPr lang="en-US" sz="1200" dirty="0"/>
          </a:p>
        </p:txBody>
      </p:sp>
      <p:pic>
        <p:nvPicPr>
          <p:cNvPr id="14" name="Image 0" descr="C:/Users/Research/Documents/GitHub/EIG-Savers-match-sipp/output/figures/universal_sm_hybrid/lens_02_required_con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46120"/>
            <a:ext cx="5486400" cy="3098261"/>
          </a:xfrm>
          <a:prstGeom prst="rect">
            <a:avLst/>
          </a:prstGeom>
        </p:spPr>
      </p:pic>
      <p:pic>
        <p:nvPicPr>
          <p:cNvPr id="15" name="Image 1" descr="C:/Users/Research/Documents/GitHub/EIG-Savers-match-sipp/output/figures/universal_sm_hybrid/lens_03_required_share_of_earn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095" y="3246120"/>
            <a:ext cx="5486400" cy="309826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Author's analysis. The over-match at the bottom is deliberate: a dollar is hardest to move out of consumption for the lowest earners.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" cy="137160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AD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About $19.1 billion a year under automatic enrollment</a:t>
            </a:r>
            <a:endParaRPr lang="en-US" sz="2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64008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10896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AD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Headline case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0" y="1783080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Versus the enacted match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240280"/>
          <a:ext cx="4327855" cy="1539240"/>
        </p:xfrm>
        <a:graphic>
          <a:graphicData uri="http://schemas.openxmlformats.org/drawingml/2006/table">
            <a:tbl>
              <a:tblPr/>
              <a:tblGrid>
                <a:gridCol w="1817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Current law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This proposal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Match rate at the bottom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50%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9644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up to 200%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Eligible workers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33.1M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9644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44.5M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Avg. match per worker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$278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9644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$537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0" y="3886200"/>
            <a:ext cx="4327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959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Compared at full participation, so the difference reflects design alone.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315200" y="4343400"/>
            <a:ext cx="4327855" cy="1417320"/>
          </a:xfrm>
          <a:prstGeom prst="roundRect">
            <a:avLst>
              <a:gd name="adj" fmla="val 4516"/>
            </a:avLst>
          </a:prstGeom>
          <a:solidFill>
            <a:srgbClr val="FEECD6"/>
          </a:solidFill>
          <a:ln w="12700">
            <a:solidFill>
              <a:srgbClr val="333333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498080" y="4480560"/>
            <a:ext cx="3962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7A5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cost that narrows over time.  </a:t>
            </a:r>
            <a:r>
              <a:rPr lang="en-US" sz="115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Workers who retire with more savings draw less on Medicaid and SSI. A RAND analysis on RSAA, a closely related proposal, found that offset large enough to turn it net-positive over several decades.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Author's analysis of SIPP 2024 Wave 1. Long-run offset: RAND analysis of the Retirement Savings for Americans Act.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" cy="137160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429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1AD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&amp; CAVEATS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2414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Built for administrability and durability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644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Design choices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8872" cy="118872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241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Income-anchored band.  </a:t>
            </a: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IRS median by filing status, chained-CPI indexed, re-anchored each decade.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118872" cy="118872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2549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241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Prior-year income basis.  </a:t>
            </a: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year-end clawback; light on current-year work incentives.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85032"/>
            <a:ext cx="118872" cy="118872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9359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241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Marriage-neutral cap.  </a:t>
            </a: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$1,000 per individual; equal earners treated the same married or single.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53128"/>
            <a:ext cx="118872" cy="118872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616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241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Liquidity by design.  </a:t>
            </a: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Own contributions stay accessible; the federal match vests after a short hold.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21224"/>
            <a:ext cx="118872" cy="118872"/>
          </a:xfrm>
          <a:prstGeom prst="ellipse">
            <a:avLst/>
          </a:prstGeom>
          <a:solidFill>
            <a:srgbClr val="E1AD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2978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2414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Self-employed rails.  </a:t>
            </a: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Estimated-tax and platform channels, with a worker-classification safe harbor.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164592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9595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What to keep in mind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2103120"/>
            <a:ext cx="505937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are descriptive estimates of what the rules would cost and whom they reach — not a behavioral forecast.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Participation is the largest uncertainty, which is why cost is shown as a range.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Employer responses are not modeled, though we anticipate minimal crowd out risk.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survey income measure approximates, but does not equal, tax-record MAGI.</a:t>
            </a:r>
            <a:endParaRPr lang="en-US" sz="13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Administrative and account-platform costs, and any phase-in, are outside the headline transfer cost.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Author's analysis of SIPP 2024 Wave 1, projected to tax year 2027. Eligibility band anchored to IRS single-filer median income.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1044</Words>
  <Application>Microsoft Office PowerPoint</Application>
  <PresentationFormat>Widescreen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Open Sans</vt:lpstr>
      <vt:lpstr>Source Serif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Universal Saver's Match</dc:title>
  <dc:subject>PptxGenJS Presentation</dc:subject>
  <dc:creator>Economic Innovation Group</dc:creator>
  <cp:lastModifiedBy>Benjamin Glasner</cp:lastModifiedBy>
  <cp:revision>2</cp:revision>
  <dcterms:created xsi:type="dcterms:W3CDTF">2026-06-11T18:40:17Z</dcterms:created>
  <dcterms:modified xsi:type="dcterms:W3CDTF">2026-06-11T19:05:40Z</dcterms:modified>
</cp:coreProperties>
</file>